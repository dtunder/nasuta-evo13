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19456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E2E8F0"/>
                </a:solidFill>
                <a:latin typeface="Segoe UI"/>
              </a:rPr>
              <a:t>ÖKOLOPOLY EVO 12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20040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38BDF8"/>
                </a:solidFill>
                <a:latin typeface="Segoe UI"/>
              </a:rPr>
              <a:t>Ein Kybernetischer Sieg über die Nasuta-Baseline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84048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64748B"/>
                </a:solidFill>
                <a:latin typeface="Segoe UI"/>
              </a:rPr>
              <a:t>Reinforcement Learning in hochgradig gekoppelten Systemen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85216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64748B"/>
                </a:solidFill>
                <a:latin typeface="Segoe UI"/>
              </a:rPr>
              <a:t>DeepMindMap AI &amp; Shubham Jayswal ·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8BDF8"/>
                </a:solidFill>
                <a:latin typeface="Segoe UI"/>
              </a:rPr>
              <a:t>DAS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E2E8F0"/>
                </a:solidFill>
                <a:latin typeface="Segoe UI"/>
              </a:rPr>
              <a:t>Die Malthusianische Falle &amp; Nasuta Baseline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1325880"/>
            <a:ext cx="11064240" cy="0"/>
          </a:xfrm>
          <a:prstGeom prst="bentConnector3">
            <a:avLst/>
          </a:prstGeom>
          <a:ln w="25400">
            <a:solidFill>
              <a:srgbClr val="38BD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1463040"/>
            <a:ext cx="11155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2E8F0"/>
                </a:solidFill>
                <a:latin typeface="Segoe UI"/>
              </a:rPr>
              <a:t>In Ökolopoly führen positive Rückkopplungen (Bevölkerungswachstum, Produktion) unweigerlich in den Systemkollaps. Standard-RL und die Nasuta-Baseline scheitern an den späten Runden.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377440"/>
            <a:ext cx="5212080" cy="3200400"/>
          </a:xfrm>
          <a:prstGeom prst="roundRect">
            <a:avLst/>
          </a:prstGeom>
          <a:solidFill>
            <a:srgbClr val="131C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256032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43F5E"/>
                </a:solidFill>
                <a:latin typeface="Segoe UI"/>
              </a:rPr>
              <a:t>Die Nasuta-Baseline (Paper)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108960"/>
            <a:ext cx="47548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2E8F0"/>
                </a:solidFill>
                <a:latin typeface="Segoe UI"/>
              </a:rPr>
              <a:t>• Reine Optimierung ohne systemisches Verständnis</a:t>
            </a:r>
          </a:p>
          <a:p>
            <a:pPr algn="l"/>
            <a:r>
              <a:rPr sz="1300" b="0" i="0">
                <a:solidFill>
                  <a:srgbClr val="E2E8F0"/>
                </a:solidFill>
                <a:latin typeface="Segoe UI"/>
              </a:rPr>
              <a:t>• Kollabiert typischerweise in Runde 9</a:t>
            </a:r>
          </a:p>
          <a:p>
            <a:pPr algn="l"/>
            <a:r>
              <a:rPr sz="1300" b="0" i="0">
                <a:solidFill>
                  <a:srgbClr val="E2E8F0"/>
                </a:solidFill>
                <a:latin typeface="Segoe UI"/>
              </a:rPr>
              <a:t>• Agenten optimieren kurzfristige Gewinne</a:t>
            </a:r>
          </a:p>
          <a:p>
            <a:pPr algn="l"/>
            <a:r>
              <a:rPr sz="1300" b="0" i="0">
                <a:solidFill>
                  <a:srgbClr val="E2E8F0"/>
                </a:solidFill>
                <a:latin typeface="Segoe UI"/>
              </a:rPr>
              <a:t>• Folge: Überbevölkerung oder Umweltkollaps</a:t>
            </a:r>
          </a:p>
          <a:p>
            <a:pPr algn="l"/>
            <a:r>
              <a:rPr sz="1300" b="0" i="0">
                <a:solidFill>
                  <a:srgbClr val="E2E8F0"/>
                </a:solidFill>
                <a:latin typeface="Segoe UI"/>
              </a:rPr>
              <a:t>• Fazit: Offener Regelkreis scheitert.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2377440"/>
            <a:ext cx="5212080" cy="3200400"/>
          </a:xfrm>
          <a:prstGeom prst="roundRect">
            <a:avLst/>
          </a:prstGeom>
          <a:solidFill>
            <a:srgbClr val="131C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37960" y="256032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64748B"/>
                </a:solidFill>
                <a:latin typeface="Segoe UI"/>
              </a:rPr>
              <a:t>Standard RL (Evo 11)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0" y="3108960"/>
            <a:ext cx="47548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2E8F0"/>
                </a:solidFill>
                <a:latin typeface="Segoe UI"/>
              </a:rPr>
              <a:t>• Agent nutzt Exploits ('Wall-Hugging')</a:t>
            </a:r>
          </a:p>
          <a:p>
            <a:pPr algn="l"/>
            <a:r>
              <a:rPr sz="1300" b="0" i="0">
                <a:solidFill>
                  <a:srgbClr val="E2E8F0"/>
                </a:solidFill>
                <a:latin typeface="Segoe UI"/>
              </a:rPr>
              <a:t>• Provoziert 'Early Suicide' (Absichtlicher Tod in Runde 6)</a:t>
            </a:r>
          </a:p>
          <a:p>
            <a:pPr algn="l"/>
            <a:r>
              <a:rPr sz="1300" b="0" i="0">
                <a:solidFill>
                  <a:srgbClr val="E2E8F0"/>
                </a:solidFill>
                <a:latin typeface="Segoe UI"/>
              </a:rPr>
              <a:t>• Findet lokale Optima statt globalem Überleben</a:t>
            </a:r>
          </a:p>
          <a:p>
            <a:pPr algn="l"/>
            <a:r>
              <a:rPr sz="1300" b="0" i="0">
                <a:solidFill>
                  <a:srgbClr val="E2E8F0"/>
                </a:solidFill>
                <a:latin typeface="Segoe UI"/>
              </a:rPr>
              <a:t>• Erkennt nicht den Wert von langfristiger Bildung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644652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64748B"/>
                </a:solidFill>
                <a:latin typeface="Segoe UI"/>
              </a:rPr>
              <a:t>Oekolopoly RL · Nasuta vs Evo 12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247120" y="644652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64748B"/>
                </a:solidFill>
                <a:latin typeface="Segoe U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8BDF8"/>
                </a:solidFill>
                <a:latin typeface="Segoe UI"/>
              </a:rPr>
              <a:t>UNSER ANSATZ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E2E8F0"/>
                </a:solidFill>
                <a:latin typeface="Segoe UI"/>
              </a:rPr>
              <a:t>Evo 12.3: Die Danger-Zone Penalty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1325880"/>
            <a:ext cx="11064240" cy="0"/>
          </a:xfrm>
          <a:prstGeom prst="bentConnector3">
            <a:avLst/>
          </a:prstGeom>
          <a:ln w="25400">
            <a:solidFill>
              <a:srgbClr val="38BD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1463040"/>
            <a:ext cx="11155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2E8F0"/>
                </a:solidFill>
                <a:latin typeface="Segoe UI"/>
              </a:rPr>
              <a:t>Um das Systemverhalten zu korrigieren, haben wir die kybernetische 'Danger-Zone Penalty' eingeführt. Sie bestraft extremales Wachstum präventiv und zwingt das Netz zur Balance.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377440"/>
            <a:ext cx="10972800" cy="137160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256032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38BDF8"/>
                </a:solidFill>
                <a:latin typeface="Segoe UI"/>
              </a:rPr>
              <a:t>Die quadratische Bestrafung (Python Gym Wrapper)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926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0B981"/>
                </a:solidFill>
                <a:latin typeface="Segoe UI"/>
              </a:rPr>
              <a:t>population = unwrapped.V[unwrapped.POPULATION]</a:t>
            </a:r>
          </a:p>
          <a:p>
            <a:pPr algn="l"/>
            <a:r>
              <a:rPr sz="1200" b="0" i="0">
                <a:solidFill>
                  <a:srgbClr val="10B981"/>
                </a:solidFill>
                <a:latin typeface="Segoe UI"/>
              </a:rPr>
              <a:t>if population &gt; 30:</a:t>
            </a:r>
          </a:p>
          <a:p>
            <a:pPr algn="l"/>
            <a:r>
              <a:rPr sz="1200" b="0" i="0">
                <a:solidFill>
                  <a:srgbClr val="10B981"/>
                </a:solidFill>
                <a:latin typeface="Segoe UI"/>
              </a:rPr>
              <a:t>    shaped_reward -= 0.1 * ((population - 30) ** 2)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4023360"/>
            <a:ext cx="111556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2E8F0"/>
                </a:solidFill>
                <a:latin typeface="Segoe UI"/>
              </a:rPr>
              <a:t>Wirkung:</a:t>
            </a:r>
          </a:p>
          <a:p>
            <a:pPr algn="l"/>
            <a:r>
              <a:rPr sz="1300" b="0" i="0">
                <a:solidFill>
                  <a:srgbClr val="E2E8F0"/>
                </a:solidFill>
                <a:latin typeface="Segoe UI"/>
              </a:rPr>
              <a:t>1. Zerschlägt das lokale Optimum des 'Early Suicides'.</a:t>
            </a:r>
          </a:p>
          <a:p>
            <a:pPr algn="l"/>
            <a:r>
              <a:rPr sz="1300" b="0" i="0">
                <a:solidFill>
                  <a:srgbClr val="E2E8F0"/>
                </a:solidFill>
                <a:latin typeface="Segoe UI"/>
              </a:rPr>
              <a:t>2. Zwingt den PPO-Agenten von Runde 1 an massiv in Aufklärung/Bildung zu investieren.</a:t>
            </a:r>
          </a:p>
          <a:p>
            <a:pPr algn="l"/>
            <a:r>
              <a:rPr sz="1300" b="0" i="0">
                <a:solidFill>
                  <a:srgbClr val="E2E8F0"/>
                </a:solidFill>
                <a:latin typeface="Segoe UI"/>
              </a:rPr>
              <a:t>3. Das exponentielle Bevölkerungswachstum wird strukturell gebrochen.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44652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64748B"/>
                </a:solidFill>
                <a:latin typeface="Segoe UI"/>
              </a:rPr>
              <a:t>Oekolopoly RL · Nasuta vs Evo 12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47120" y="644652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64748B"/>
                </a:solidFill>
                <a:latin typeface="Segoe U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8BDF8"/>
                </a:solidFill>
                <a:latin typeface="Segoe UI"/>
              </a:rPr>
              <a:t>DAS ERGEBNIS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E2E8F0"/>
                </a:solidFill>
                <a:latin typeface="Segoe UI"/>
              </a:rPr>
              <a:t>100% Win-Rate nach 1.000.000 Steps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1325880"/>
            <a:ext cx="11064240" cy="0"/>
          </a:xfrm>
          <a:prstGeom prst="bentConnector3">
            <a:avLst/>
          </a:prstGeom>
          <a:ln w="25400">
            <a:solidFill>
              <a:srgbClr val="38BD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548640" y="1645920"/>
            <a:ext cx="10972800" cy="1828800"/>
          </a:xfrm>
          <a:prstGeom prst="round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82880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0B1117"/>
                </a:solidFill>
                <a:latin typeface="Segoe UI"/>
              </a:rPr>
              <a:t>10 / 10 Seeds überleben Runde 30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46888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0B1117"/>
                </a:solidFill>
                <a:latin typeface="Segoe UI"/>
              </a:rPr>
              <a:t>Durchschnittliche Runden: 30.00</a:t>
            </a:r>
          </a:p>
          <a:p>
            <a:pPr algn="ctr"/>
            <a:r>
              <a:rPr sz="1600" b="0" i="0">
                <a:solidFill>
                  <a:srgbClr val="0B1117"/>
                </a:solidFill>
                <a:latin typeface="Segoe UI"/>
              </a:rPr>
              <a:t>Todesursachen: KEINE (Alle 'survived')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840480"/>
            <a:ext cx="11155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38BDF8"/>
                </a:solidFill>
                <a:latin typeface="Segoe UI"/>
              </a:rPr>
              <a:t>Der Phasenübergang ('Die Singularität'):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4297680"/>
            <a:ext cx="111556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E2E8F0"/>
                </a:solidFill>
                <a:latin typeface="Segoe UI"/>
              </a:rPr>
              <a:t>• Nach 750k Steps: Agent stirbt in Runde 14 an verschiedenen Ursachen (Whack-a-Mole).</a:t>
            </a:r>
          </a:p>
          <a:p>
            <a:pPr algn="l"/>
            <a:r>
              <a:rPr sz="1400" b="0" i="0">
                <a:solidFill>
                  <a:srgbClr val="E2E8F0"/>
                </a:solidFill>
                <a:latin typeface="Segoe UI"/>
              </a:rPr>
              <a:t>• Nach 1M Steps: Das Nadelöhr (Runde 14) ist durchbrochen.</a:t>
            </a:r>
          </a:p>
          <a:p>
            <a:pPr algn="l"/>
            <a:r>
              <a:rPr sz="1400" b="0" i="0">
                <a:solidFill>
                  <a:srgbClr val="E2E8F0"/>
                </a:solidFill>
                <a:latin typeface="Segoe UI"/>
              </a:rPr>
              <a:t>• Sobald Runde 14 überlebt wird, nutzt der Agent die positiven Rückkopplungen (hohe Bildung = stabile Bevölkerung = hohe Lebensqualität) zu seinem Vorteil.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44652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64748B"/>
                </a:solidFill>
                <a:latin typeface="Segoe UI"/>
              </a:rPr>
              <a:t>Oekolopoly RL · Nasuta vs Evo 12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47120" y="644652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64748B"/>
                </a:solidFill>
                <a:latin typeface="Segoe U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8BDF8"/>
                </a:solidFill>
                <a:latin typeface="Segoe UI"/>
              </a:rPr>
              <a:t>AUDIT &amp; BEWEIS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E2E8F0"/>
                </a:solidFill>
                <a:latin typeface="Segoe UI"/>
              </a:rPr>
              <a:t>Echter kybernetischer Sieg (Kein Exploit)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1325880"/>
            <a:ext cx="11064240" cy="0"/>
          </a:xfrm>
          <a:prstGeom prst="bentConnector3">
            <a:avLst/>
          </a:prstGeom>
          <a:ln w="25400">
            <a:solidFill>
              <a:srgbClr val="38BD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1463040"/>
            <a:ext cx="11155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2E8F0"/>
                </a:solidFill>
                <a:latin typeface="Segoe UI"/>
              </a:rPr>
              <a:t>Forensische Analyse (Seed 42) der Endwerte in Runde 30 beweist, dass der Agent das System absolut stabilisiert hat, ohne 'Wall-Hugging' (Kleben an den Randwerten) zu betreiben.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286000"/>
            <a:ext cx="5212080" cy="3200400"/>
          </a:xfrm>
          <a:prstGeom prst="roundRect">
            <a:avLst/>
          </a:prstGeom>
          <a:solidFill>
            <a:srgbClr val="131C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246888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38BDF8"/>
                </a:solidFill>
                <a:latin typeface="Segoe UI"/>
              </a:rPr>
              <a:t>Grenzwerte &amp; Stabilität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017520"/>
            <a:ext cx="47548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E2E8F0"/>
                </a:solidFill>
                <a:latin typeface="Segoe UI"/>
              </a:rPr>
              <a:t>• Max End-Zustand: 39 (Kritisch: &gt;45)</a:t>
            </a:r>
          </a:p>
          <a:p>
            <a:pPr algn="l"/>
            <a:r>
              <a:rPr sz="1400" b="0" i="0">
                <a:solidFill>
                  <a:srgbClr val="E2E8F0"/>
                </a:solidFill>
                <a:latin typeface="Segoe UI"/>
              </a:rPr>
              <a:t>• Min End-Zustand: 10 (Kritisch: &lt;3)</a:t>
            </a:r>
          </a:p>
          <a:p>
            <a:pPr algn="l"/>
            <a:r>
              <a:rPr sz="1400" b="0" i="0">
                <a:solidFill>
                  <a:srgbClr val="E2E8F0"/>
                </a:solidFill>
                <a:latin typeface="Segoe UI"/>
              </a:rPr>
              <a:t/>
            </a:r>
          </a:p>
          <a:p>
            <a:pPr algn="l"/>
            <a:r>
              <a:rPr sz="1400" b="0" i="0">
                <a:solidFill>
                  <a:srgbClr val="E2E8F0"/>
                </a:solidFill>
                <a:latin typeface="Segoe UI"/>
              </a:rPr>
              <a:t>Alle Sektoren oszillieren sicher im zentralen Balance-Korridor [10, 39].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2286000"/>
            <a:ext cx="5212080" cy="3200400"/>
          </a:xfrm>
          <a:prstGeom prst="roundRect">
            <a:avLst/>
          </a:prstGeom>
          <a:solidFill>
            <a:srgbClr val="131C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37960" y="246888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0B981"/>
                </a:solidFill>
                <a:latin typeface="Segoe UI"/>
              </a:rPr>
              <a:t>Strategie des Agenten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0" y="3017520"/>
            <a:ext cx="47548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E2E8F0"/>
                </a:solidFill>
                <a:latin typeface="Segoe UI"/>
              </a:rPr>
              <a:t>1. Früher, radikaler Aufbau von Aufklärung.</a:t>
            </a:r>
          </a:p>
          <a:p>
            <a:pPr algn="l"/>
            <a:r>
              <a:rPr sz="1400" b="0" i="0">
                <a:solidFill>
                  <a:srgbClr val="E2E8F0"/>
                </a:solidFill>
                <a:latin typeface="Segoe UI"/>
              </a:rPr>
              <a:t>2. Sanierung kompensiert Industrie-Schaden exakt.</a:t>
            </a:r>
          </a:p>
          <a:p>
            <a:pPr algn="l"/>
            <a:r>
              <a:rPr sz="1400" b="0" i="0">
                <a:solidFill>
                  <a:srgbClr val="E2E8F0"/>
                </a:solidFill>
                <a:latin typeface="Segoe UI"/>
              </a:rPr>
              <a:t>3. Politik bleibt bei 19, Bevölkerung stagniert sanft bei 30.</a:t>
            </a:r>
          </a:p>
          <a:p>
            <a:pPr algn="l"/>
            <a:r>
              <a:rPr sz="1400" b="0" i="0">
                <a:solidFill>
                  <a:srgbClr val="E2E8F0"/>
                </a:solidFill>
                <a:latin typeface="Segoe UI"/>
              </a:rPr>
              <a:t/>
            </a:r>
          </a:p>
          <a:p>
            <a:pPr algn="l"/>
            <a:r>
              <a:rPr sz="1400" b="0" i="0">
                <a:solidFill>
                  <a:srgbClr val="E2E8F0"/>
                </a:solidFill>
                <a:latin typeface="Segoe UI"/>
              </a:rPr>
              <a:t>Fazit: Das Netzwerk hat die System Dynamics vollständig entschlüsselt.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644652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64748B"/>
                </a:solidFill>
                <a:latin typeface="Segoe UI"/>
              </a:rPr>
              <a:t>Oekolopoly RL · Nasuta vs Evo 12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247120" y="644652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64748B"/>
                </a:solidFill>
                <a:latin typeface="Segoe UI"/>
              </a:rPr>
              <a:t>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