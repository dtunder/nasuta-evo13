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874519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E7ECF4"/>
                </a:solidFill>
                <a:latin typeface="Segoe UI"/>
              </a:rPr>
              <a:t>ÖKOLOPOLY EVO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306324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38BDF8"/>
                </a:solidFill>
                <a:latin typeface="Segoe UI"/>
              </a:rPr>
              <a:t>Ein kybernetischer Sieg über die Nasuta-Baseline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3794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3A3BD"/>
                </a:solidFill>
                <a:latin typeface="Segoe UI"/>
              </a:rPr>
              <a:t>Reinforcement Learning in hochgradig gekoppelten Systemen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4617720"/>
            <a:ext cx="2331720" cy="1051560"/>
          </a:xfrm>
          <a:prstGeom prst="roundRect">
            <a:avLst/>
          </a:prstGeom>
          <a:solidFill>
            <a:srgbClr val="18243D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736592"/>
            <a:ext cx="2331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34D399"/>
                </a:solidFill>
                <a:latin typeface="Segoe UI"/>
              </a:rPr>
              <a:t>Ø 30.00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230368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3A3BD"/>
                </a:solidFill>
                <a:latin typeface="Segoe UI"/>
              </a:rPr>
              <a:t>Runden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4617720"/>
            <a:ext cx="2331720" cy="1051560"/>
          </a:xfrm>
          <a:prstGeom prst="roundRect">
            <a:avLst/>
          </a:prstGeom>
          <a:solidFill>
            <a:srgbClr val="18243D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4736592"/>
            <a:ext cx="2331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38BDF8"/>
                </a:solidFill>
                <a:latin typeface="Segoe UI"/>
              </a:rPr>
              <a:t>100 %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5230368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3A3BD"/>
                </a:solidFill>
                <a:latin typeface="Segoe UI"/>
              </a:rPr>
              <a:t>Win-Rate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4617720"/>
            <a:ext cx="2331720" cy="1051560"/>
          </a:xfrm>
          <a:prstGeom prst="roundRect">
            <a:avLst/>
          </a:prstGeom>
          <a:solidFill>
            <a:srgbClr val="18243D"/>
          </a:solidFill>
          <a:ln w="19050">
            <a:solidFill>
              <a:srgbClr val="F5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97880" y="4736592"/>
            <a:ext cx="2331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5B74D"/>
                </a:solidFill>
                <a:latin typeface="Segoe UI"/>
              </a:rPr>
              <a:t>1 Mio.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5230368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3A3BD"/>
                </a:solidFill>
                <a:latin typeface="Segoe UI"/>
              </a:rPr>
              <a:t>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612648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3A3BD"/>
                </a:solidFill>
                <a:latin typeface="Segoe UI"/>
              </a:rPr>
              <a:t>DeepMindMap AI  &amp;  Shubham Jayswal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09728" cy="384048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7171"/>
                </a:solidFill>
                <a:latin typeface="Segoe UI"/>
              </a:rPr>
              <a:t>DAS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5156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7ECF4"/>
                </a:solidFill>
                <a:latin typeface="Segoe UI"/>
              </a:rPr>
              <a:t>Die Malthusianische Falle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1783080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3A3BD"/>
                </a:solidFill>
                <a:latin typeface="Segoe UI"/>
              </a:rPr>
              <a:t>Positive Rückkopplungen (Bevölkerung, Produktion) treiben das System unweigerlich in den Kollaps. Standard-Ansätze scheitern an den späten Runden.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743200"/>
            <a:ext cx="5212080" cy="3246120"/>
          </a:xfrm>
          <a:prstGeom prst="roundRect">
            <a:avLst/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743200"/>
            <a:ext cx="91440" cy="324612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19" y="292608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87171"/>
                </a:solidFill>
                <a:latin typeface="Segoe UI"/>
              </a:rPr>
              <a:t>Nasuta-Baseline (Paper)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19" y="3520440"/>
            <a:ext cx="46634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E7ECF4"/>
                </a:solidFill>
                <a:latin typeface="Segoe UI"/>
              </a:rPr>
              <a:t>• Optimierung ohne systemisches Verständnis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E7ECF4"/>
                </a:solidFill>
                <a:latin typeface="Segoe UI"/>
              </a:rPr>
              <a:t>• Kollabiert typischerweise in Runde 9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E7ECF4"/>
                </a:solidFill>
                <a:latin typeface="Segoe UI"/>
              </a:rPr>
              <a:t>• Maximiert kurzfristige Gewinne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E7ECF4"/>
                </a:solidFill>
                <a:latin typeface="Segoe UI"/>
              </a:rPr>
              <a:t>• Folge: Überbevölkerung / Umweltkollaps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E7ECF4"/>
                </a:solidFill>
                <a:latin typeface="Segoe UI"/>
              </a:rPr>
              <a:t>• Offener Regelkreis scheitert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743200"/>
            <a:ext cx="5212080" cy="3246120"/>
          </a:xfrm>
          <a:prstGeom prst="roundRect">
            <a:avLst/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743200"/>
            <a:ext cx="91440" cy="3246120"/>
          </a:xfrm>
          <a:prstGeom prst="rect">
            <a:avLst/>
          </a:prstGeom>
          <a:solidFill>
            <a:srgbClr val="F5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92608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5B74D"/>
                </a:solidFill>
                <a:latin typeface="Segoe UI"/>
              </a:rPr>
              <a:t>Standard RL (Evo 11)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520440"/>
            <a:ext cx="46634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E7ECF4"/>
                </a:solidFill>
                <a:latin typeface="Segoe UI"/>
              </a:rPr>
              <a:t>• Nutzt Exploits ('Wall-Hugging')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E7ECF4"/>
                </a:solidFill>
                <a:latin typeface="Segoe UI"/>
              </a:rPr>
              <a:t>• Kollabiert ~Runde 12 durch Überbevölkerung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E7ECF4"/>
                </a:solidFill>
                <a:latin typeface="Segoe UI"/>
              </a:rPr>
              <a:t>• Findet lokale Optima statt Überleben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E7ECF4"/>
                </a:solidFill>
                <a:latin typeface="Segoe UI"/>
              </a:rPr>
              <a:t>• Erkennt Wert langfristiger Bildung nicht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3A3BD"/>
                </a:solidFill>
                <a:latin typeface="Segoe UI"/>
              </a:rPr>
              <a:t>Oekolopoly RL  —  Nasuta vs Evo 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37376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3A3BD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09728" cy="38404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Segoe UI"/>
              </a:rPr>
              <a:t>UNSER ANSATZ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5156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7ECF4"/>
                </a:solidFill>
                <a:latin typeface="Segoe UI"/>
              </a:rPr>
              <a:t>Spread-Balance + Ceiling-Guard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1783080"/>
            <a:ext cx="104241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3A3BD"/>
                </a:solidFill>
                <a:latin typeface="Segoe UI"/>
              </a:rPr>
              <a:t>Zwei gekoppelte Signale halten das System stabil: ein Spread-Term zieht alle Sektoren zur Mitte, ein Ceiling-Guard verhindert das Überkippen über die obere Wand — ganz ohne den Suizid-Trap einer quadratischen Strafe.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788920"/>
            <a:ext cx="6400800" cy="1828800"/>
          </a:xfrm>
          <a:prstGeom prst="roundRect">
            <a:avLst/>
          </a:prstGeom>
          <a:solidFill>
            <a:srgbClr val="101B30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017520"/>
            <a:ext cx="5943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34D399"/>
                </a:solidFill>
                <a:latin typeface="Consolas"/>
              </a:rPr>
              <a:t>v = normalize(V[:8], Vmin, Vmax)          # 0..1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34D399"/>
                </a:solidFill>
                <a:latin typeface="Consolas"/>
              </a:rPr>
              <a:t>reward += 3.0 * (1 - (v.max()-v.min()))   # Spread → Mitte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34D399"/>
                </a:solidFill>
                <a:latin typeface="Consolas"/>
              </a:rPr>
              <a:t>reward -= 8.0 * maximum(0, v-0.80).sum()   # Ceiling-Guard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2788920"/>
            <a:ext cx="4069080" cy="1828800"/>
          </a:xfrm>
          <a:prstGeom prst="roundRect">
            <a:avLst/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2971800"/>
            <a:ext cx="35661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E7ECF4"/>
                </a:solidFill>
                <a:latin typeface="Segoe UI"/>
              </a:rPr>
              <a:t>Wirkung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E7ECF4"/>
                </a:solidFill>
                <a:latin typeface="Segoe UI"/>
              </a:rPr>
              <a:t>• Alle 8 Sektoren im Mittelkorridor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E7ECF4"/>
                </a:solidFill>
                <a:latin typeface="Segoe UI"/>
              </a:rPr>
              <a:t>• QoL-Decke (R21-Killer) blockiert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E7ECF4"/>
                </a:solidFill>
                <a:latin typeface="Segoe UI"/>
              </a:rPr>
              <a:t>• Kein Suicide-Trap: länger leben = mehr Reward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4892040"/>
            <a:ext cx="10607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5B74D"/>
                </a:solidFill>
                <a:latin typeface="Segoe UI"/>
              </a:rPr>
              <a:t>Reward-Evolution:  quadratische Strafe (Ø6, Suizid)  →  Centering (Ø6, Überpop.)  →  Spread+Ceiling (Ø30)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3A3BD"/>
                </a:solidFill>
                <a:latin typeface="Segoe UI"/>
              </a:rPr>
              <a:t>Oekolopoly RL  —  Nasuta vs Evo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37376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3A3BD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09728" cy="3840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4D399"/>
                </a:solidFill>
                <a:latin typeface="Segoe UI"/>
              </a:rPr>
              <a:t>DER PHASENÜBERGANG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5156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7ECF4"/>
                </a:solidFill>
                <a:latin typeface="Segoe UI"/>
              </a:rPr>
              <a:t>Das Nadelöhr bei Runde 14</a:t>
            </a:r>
          </a:p>
        </p:txBody>
      </p:sp>
      <p:pic>
        <p:nvPicPr>
          <p:cNvPr id="5" name="Picture 4" descr="ph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874519"/>
            <a:ext cx="9144000" cy="4775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6968" y="594360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93A3BD"/>
                </a:solidFill>
                <a:latin typeface="Segoe UI"/>
              </a:rPr>
              <a:t>Bis 750k Steps stagniert der Agent bei R14 (wechselnde Todesursachen). Zwischen 750k und 1M bricht er das Nadelöhr — danach 10/10 × Runde 30.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3A3BD"/>
                </a:solidFill>
                <a:latin typeface="Segoe UI"/>
              </a:rPr>
              <a:t>Oekolopoly RL  —  Nasuta vs Evo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37376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3A3BD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09728" cy="3840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4D399"/>
                </a:solidFill>
                <a:latin typeface="Segoe UI"/>
              </a:rPr>
              <a:t>DAS ERGEBNIS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5156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7ECF4"/>
                </a:solidFill>
                <a:latin typeface="Segoe UI"/>
              </a:rPr>
              <a:t>100 % Win-Rate nach 1 Mio.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920240"/>
            <a:ext cx="3017520" cy="1143000"/>
          </a:xfrm>
          <a:prstGeom prst="roundRect">
            <a:avLst/>
          </a:prstGeom>
          <a:solidFill>
            <a:srgbClr val="18243D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29968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34D399"/>
                </a:solidFill>
                <a:latin typeface="Segoe UI"/>
              </a:rPr>
              <a:t>Ø 30.00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33472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93A3BD"/>
                </a:solidFill>
                <a:latin typeface="Segoe UI"/>
              </a:rPr>
              <a:t>Runden (10 Seeds)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291840"/>
            <a:ext cx="3017520" cy="1143000"/>
          </a:xfrm>
          <a:prstGeom prst="roundRect">
            <a:avLst/>
          </a:prstGeom>
          <a:solidFill>
            <a:srgbClr val="18243D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01568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38BDF8"/>
                </a:solidFill>
                <a:latin typeface="Segoe UI"/>
              </a:rPr>
              <a:t>10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005072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93A3BD"/>
                </a:solidFill>
                <a:latin typeface="Segoe UI"/>
              </a:rPr>
              <a:t>Seeds survived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663440"/>
            <a:ext cx="3017520" cy="1143000"/>
          </a:xfrm>
          <a:prstGeom prst="roundRect">
            <a:avLst/>
          </a:prstGeom>
          <a:solidFill>
            <a:srgbClr val="18243D"/>
          </a:solidFill>
          <a:ln w="19050">
            <a:solidFill>
              <a:srgbClr val="F5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773168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F5B74D"/>
                </a:solidFill>
                <a:latin typeface="Segoe U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376672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93A3BD"/>
                </a:solidFill>
                <a:latin typeface="Segoe UI"/>
              </a:rPr>
              <a:t>Todesfälle</a:t>
            </a:r>
          </a:p>
        </p:txBody>
      </p:sp>
      <p:pic>
        <p:nvPicPr>
          <p:cNvPr id="14" name="Picture 13" descr="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783080"/>
            <a:ext cx="7498079" cy="38041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160520" y="6172200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93A3BD"/>
                </a:solidFill>
                <a:latin typeface="Segoe UI"/>
              </a:rPr>
              <a:t>Seed 42: alle Sektoren bleiben im Mittelkorridor — messbar kein Wall-Hugging.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3A3BD"/>
                </a:solidFill>
                <a:latin typeface="Segoe UI"/>
              </a:rPr>
              <a:t>Oekolopoly RL  —  Nasuta vs Evo 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37376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3A3BD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09728" cy="38404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Segoe UI"/>
              </a:rPr>
              <a:t>AUDIT &amp; BEWEIS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5156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7ECF4"/>
                </a:solidFill>
                <a:latin typeface="Segoe UI"/>
              </a:rPr>
              <a:t>Echter kybernetischer Sieg — kein Exploit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965960"/>
            <a:ext cx="5212080" cy="3108960"/>
          </a:xfrm>
          <a:prstGeom prst="roundRect">
            <a:avLst/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14884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8BDF8"/>
                </a:solidFill>
                <a:latin typeface="Segoe UI"/>
              </a:rPr>
              <a:t>Grenzwerte &amp; Stabilität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6634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E7ECF4"/>
                </a:solidFill>
                <a:latin typeface="Segoe UI"/>
              </a:rPr>
              <a:t>• Max End-Zustand:  39   (kritisch &gt; 45)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E7ECF4"/>
                </a:solidFill>
                <a:latin typeface="Segoe UI"/>
              </a:rPr>
              <a:t>• Min End-Zustand:  10   (kritisch &lt; 3)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E7ECF4"/>
                </a:solidFill>
                <a:latin typeface="Segoe UI"/>
              </a:rPr>
              <a:t>• Alle Sektoren im Korridor [10, 39]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E7ECF4"/>
                </a:solidFill>
                <a:latin typeface="Segoe UI"/>
              </a:rPr>
              <a:t>• Stabilität = 1.0 über alle 10 Seeds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965960"/>
            <a:ext cx="5212080" cy="3108960"/>
          </a:xfrm>
          <a:prstGeom prst="roundRect">
            <a:avLst/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214884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4D399"/>
                </a:solidFill>
                <a:latin typeface="Segoe UI"/>
              </a:rPr>
              <a:t>Strategie des Agenten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743200"/>
            <a:ext cx="46634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E7ECF4"/>
                </a:solidFill>
                <a:latin typeface="Segoe UI"/>
              </a:rPr>
              <a:t>• Früh kontrolliert schrumpfen (Risiko runter)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E7ECF4"/>
                </a:solidFill>
                <a:latin typeface="Segoe UI"/>
              </a:rPr>
              <a:t>• Dann stabil wachsen (R15–30)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E7ECF4"/>
                </a:solidFill>
                <a:latin typeface="Segoe UI"/>
              </a:rPr>
              <a:t>• Sanierung kompensiert Industrie-Schaden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E7ECF4"/>
                </a:solidFill>
                <a:latin typeface="Segoe UI"/>
              </a:rPr>
              <a:t>• Bildung hält Reproduktion in Balance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257800"/>
            <a:ext cx="10698480" cy="868680"/>
          </a:xfrm>
          <a:prstGeom prst="roundRect">
            <a:avLst/>
          </a:prstGeom>
          <a:solidFill>
            <a:srgbClr val="101B30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413248"/>
            <a:ext cx="10698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4D399"/>
                </a:solidFill>
                <a:latin typeface="Segoe UI"/>
              </a:rPr>
              <a:t>Fazit: Das Netzwerk hat die System-Dynamik vollständig entschlüsselt.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3A3BD"/>
                </a:solidFill>
                <a:latin typeface="Segoe UI"/>
              </a:rPr>
              <a:t>Oekolopoly RL  —  Nasuta vs Evo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37376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3A3BD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