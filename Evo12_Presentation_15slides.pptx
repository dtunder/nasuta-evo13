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>
                <a:solidFill>
                  <a:srgbClr val="E7ECF4"/>
                </a:solidFill>
                <a:latin typeface="Segoe UI"/>
              </a:rPr>
              <a:t>ÖKOLOPOLY EVO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27432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8BDF8"/>
                </a:solidFill>
                <a:latin typeface="Segoe UI"/>
              </a:rPr>
              <a:t>Eine KI lernt, ein ganzes Land im Gleichgewicht zu halten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34290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3A3BD"/>
                </a:solidFill>
                <a:latin typeface="Segoe UI"/>
              </a:rPr>
              <a:t>Reinforcement Learning in einem hochgradig gekoppelten Steuerungssystem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297680"/>
            <a:ext cx="2423160" cy="109728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43484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34D399"/>
                </a:solidFill>
                <a:latin typeface="Segoe UI"/>
              </a:rPr>
              <a:t>Ø 30.00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98348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3A3BD"/>
                </a:solidFill>
                <a:latin typeface="Segoe UI"/>
              </a:rPr>
              <a:t>von 30 Runden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297680"/>
            <a:ext cx="2423160" cy="109728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443484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38BDF8"/>
                </a:solidFill>
                <a:latin typeface="Segoe UI"/>
              </a:rPr>
              <a:t>100 %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98348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3A3BD"/>
                </a:solidFill>
                <a:latin typeface="Segoe UI"/>
              </a:rPr>
              <a:t>Win-Rate (10 Seeds)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4297680"/>
            <a:ext cx="2423160" cy="109728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F5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443484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5B74D"/>
                </a:solidFill>
                <a:latin typeface="Segoe UI"/>
              </a:rPr>
              <a:t>1 Mio.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498348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3A3BD"/>
                </a:solidFill>
                <a:latin typeface="Segoe UI"/>
              </a:rPr>
              <a:t>Trainings-Steps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60350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3BD"/>
                </a:solidFill>
                <a:latin typeface="Segoe UI"/>
              </a:rPr>
              <a:t>Shubham Jayswal  ·  DeepMindMap AI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Segoe UI"/>
              </a:rPr>
              <a:t>DAS SPIEL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CF4"/>
                </a:solidFill>
                <a:latin typeface="Segoe UI"/>
              </a:rPr>
              <a:t>Was ist Oekolopoly?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73736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3A3BD"/>
                </a:solidFill>
                <a:latin typeface="Segoe UI"/>
              </a:rPr>
              <a:t>Ein kybernetisches Brettspiel von Frederic Vester: Du regierst ein kleines fiktives Land und steuerst es über mehrere Runden — alle Sektoren beeinflussen sich gegenseitig.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788920"/>
            <a:ext cx="5212080" cy="3017520"/>
          </a:xfrm>
          <a:prstGeom prst="round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9718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Segoe UI"/>
              </a:rPr>
              <a:t>8 gekoppelte Sektoren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20440"/>
            <a:ext cx="46634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 Bevölkerung &amp; Bevölkerungs-Wachstum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 Produktion &amp; Umwelt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 Lebensqualität &amp; Sanierung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 Aufklärung &amp; Politik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788920"/>
            <a:ext cx="5212080" cy="3017520"/>
          </a:xfrm>
          <a:prstGeom prst="round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9718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  <a:latin typeface="Segoe UI"/>
              </a:rPr>
              <a:t>Das Ziel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20440"/>
            <a:ext cx="46634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 Jede Runde Aktionspunkte verteilen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 Alle Sektoren im Gleichgewicht halten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 Weder Kollaps noch Explosion zulassen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 Möglichst lange überleben — Ziel: 30 Runden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3BD"/>
                </a:solidFill>
                <a:latin typeface="Segoe UI"/>
              </a:rPr>
              <a:t>Oekolopoly Evo 12  —  RL in gekoppelten Systemen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373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3BD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7171"/>
                </a:solidFill>
                <a:latin typeface="Segoe UI"/>
              </a:rPr>
              <a:t>DIE HERAUSFORDERUNG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CF4"/>
                </a:solidFill>
                <a:latin typeface="Segoe UI"/>
              </a:rPr>
              <a:t>Warum ist das so schwer?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73736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3A3BD"/>
                </a:solidFill>
                <a:latin typeface="Segoe UI"/>
              </a:rPr>
              <a:t>Das System ist nichtlinear und stark rückgekoppelt: jede Aktion wirkt verzögert und über mehrere Sektoren. Lokale Optimierung führt fast immer in den Kollaps.</a:t>
            </a:r>
          </a:p>
        </p:txBody>
      </p:sp>
      <p:pic>
        <p:nvPicPr>
          <p:cNvPr id="6" name="Picture 5" descr="G3_malth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43200"/>
            <a:ext cx="4937760" cy="370517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80760" y="2743200"/>
            <a:ext cx="5486400" cy="3063240"/>
          </a:xfrm>
          <a:prstGeom prst="round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2743200"/>
            <a:ext cx="91440" cy="306324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9260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7171"/>
                </a:solidFill>
                <a:latin typeface="Segoe UI"/>
              </a:rPr>
              <a:t>Die Malthusianische Falle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474720"/>
            <a:ext cx="5029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E7ECF4"/>
                </a:solidFill>
                <a:latin typeface="Segoe UI"/>
              </a:rPr>
              <a:t>•  Positive Rückkopplung: Bevölkerung &amp; Produktion wachsen sich selbst hoch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7ECF4"/>
                </a:solidFill>
                <a:latin typeface="Segoe UI"/>
              </a:rPr>
              <a:t>•  Wer kurzfristig optimiert, überschießt → Kollaps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7ECF4"/>
                </a:solidFill>
                <a:latin typeface="Segoe UI"/>
              </a:rPr>
              <a:t>•  Spätes Endgame ist der eigentliche Killer (Runde 21–30)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7ECF4"/>
                </a:solidFill>
                <a:latin typeface="Segoe UI"/>
              </a:rPr>
              <a:t>•  Zwei tödliche Wände: untere UND obere Grenze jedes Sektors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3BD"/>
                </a:solidFill>
                <a:latin typeface="Segoe UI"/>
              </a:rPr>
              <a:t>Oekolopoly Evo 12  —  RL in gekoppelten Systemen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373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3BD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F5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B74D"/>
                </a:solidFill>
                <a:latin typeface="Segoe UI"/>
              </a:rPr>
              <a:t>DIE BASELINES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CF4"/>
                </a:solidFill>
                <a:latin typeface="Segoe UI"/>
              </a:rPr>
              <a:t>Was schaffen klassische Verfahren?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69164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3A3BD"/>
                </a:solidFill>
                <a:latin typeface="Segoe UI"/>
              </a:rPr>
              <a:t>Drei dokumentierte Referenz-Verfahren (Multi-Seed) — selbst im besten Fall (Heuristik 24/30) erreicht keine einen vollen 30-Runden-Sieg.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3A3BD"/>
                </a:solidFill>
                <a:latin typeface="Segoe UI"/>
              </a:rPr>
              <a:t>Methode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3317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93A3BD"/>
                </a:solidFill>
                <a:latin typeface="Segoe UI"/>
              </a:rPr>
              <a:t>Ø Runden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33172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93A3BD"/>
                </a:solidFill>
                <a:latin typeface="Segoe UI"/>
              </a:rPr>
              <a:t>Konfidenz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514600"/>
            <a:ext cx="10698480" cy="868680"/>
          </a:xfrm>
          <a:prstGeom prst="round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514600"/>
            <a:ext cx="91440" cy="86868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62432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7ECF4"/>
                </a:solidFill>
                <a:latin typeface="Segoe UI"/>
              </a:rPr>
              <a:t>Paper Vanilla 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97180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3BD"/>
                </a:solidFill>
                <a:latin typeface="Segoe UI"/>
              </a:rPr>
              <a:t>reines MCTS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71576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87171"/>
                </a:solidFill>
                <a:latin typeface="Segoe UI"/>
              </a:rPr>
              <a:t>Ø 3.28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770632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3A3BD"/>
                </a:solidFill>
                <a:latin typeface="Segoe UI"/>
              </a:rPr>
              <a:t>mittel (n=25)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520440"/>
            <a:ext cx="10698480" cy="868680"/>
          </a:xfrm>
          <a:prstGeom prst="round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520440"/>
            <a:ext cx="91440" cy="868680"/>
          </a:xfrm>
          <a:prstGeom prst="rect">
            <a:avLst/>
          </a:prstGeom>
          <a:solidFill>
            <a:srgbClr val="F5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63016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7ECF4"/>
                </a:solidFill>
                <a:latin typeface="Segoe UI"/>
              </a:rPr>
              <a:t>Sovereign MCTS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977639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3BD"/>
                </a:solidFill>
                <a:latin typeface="Segoe UI"/>
              </a:rPr>
              <a:t>MCTS + Soft-Constraints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72160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5B74D"/>
                </a:solidFill>
                <a:latin typeface="Segoe UI"/>
              </a:rPr>
              <a:t>Ø 7.08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776472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3A3BD"/>
                </a:solidFill>
                <a:latin typeface="Segoe UI"/>
              </a:rPr>
              <a:t>mittel (n=25)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526280"/>
            <a:ext cx="10698480" cy="868680"/>
          </a:xfrm>
          <a:prstGeom prst="round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4526280"/>
            <a:ext cx="91440" cy="8686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63600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7ECF4"/>
                </a:solidFill>
                <a:latin typeface="Segoe UI"/>
              </a:rPr>
              <a:t>Heuristik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98348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3BD"/>
                </a:solidFill>
                <a:latin typeface="Segoe UI"/>
              </a:rPr>
              <a:t>handcodiert, deterministisch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72744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38BDF8"/>
                </a:solidFill>
                <a:latin typeface="Segoe UI"/>
              </a:rPr>
              <a:t>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782312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3A3BD"/>
                </a:solidFill>
                <a:latin typeface="Segoe UI"/>
              </a:rPr>
              <a:t>hoch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57150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5B74D"/>
                </a:solidFill>
                <a:latin typeface="Segoe UI"/>
              </a:rPr>
              <a:t>Hinweis: Eine alte "30 Runden / 100 %"-Zahl war eine handcodierte Mogel-Heuristik, kein Lern-Erfolg. Die ehrliche Heuristik-Baseline = 24 Runden.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3BD"/>
                </a:solidFill>
                <a:latin typeface="Segoe UI"/>
              </a:rPr>
              <a:t>Oekolopoly Evo 12  —  RL in gekoppelten Systemen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373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3BD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Segoe UI"/>
              </a:rPr>
              <a:t>UNSER ANSATZ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CF4"/>
                </a:solidFill>
                <a:latin typeface="Segoe UI"/>
              </a:rPr>
              <a:t>RL mit MaskablePPO — nicht alles ab null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737360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3A3BD"/>
                </a:solidFill>
                <a:latin typeface="Segoe UI"/>
              </a:rPr>
              <a:t>Wir trainieren keinen Agenten auf der grünen Wiese. Wir bauen auf der bestehenden Oekolopoly-Environment und der Vorarbeit auf — und investieren die Energie in das, was wirklich zählt: das Reward-Design.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34640"/>
            <a:ext cx="5212080" cy="2834640"/>
          </a:xfrm>
          <a:prstGeom prst="round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01752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Segoe UI"/>
              </a:rPr>
              <a:t>Worauf wir aufbauen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611880"/>
            <a:ext cx="46634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 Fertige Simulations-Environment (survival_env)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 Action-Masking: nur legale Züge möglich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 Erprobte Vorarbeit aus früheren Evo-Stufen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834640"/>
            <a:ext cx="5212080" cy="2834640"/>
          </a:xfrm>
          <a:prstGeom prst="round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301752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  <a:latin typeface="Segoe UI"/>
              </a:rPr>
              <a:t>Was wir neu machen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611880"/>
            <a:ext cx="46634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 Algorithmus: MaskablePPO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 Eigenes Reward-Engineering (der Kern dieser Arbeit)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 1 Mio. Trainings-Steps bis zur Konvergenz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3BD"/>
                </a:solidFill>
                <a:latin typeface="Segoe UI"/>
              </a:rPr>
              <a:t>Oekolopoly Evo 12  —  RL in gekoppelten Systemen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373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3BD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F5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B74D"/>
                </a:solidFill>
                <a:latin typeface="Segoe UI"/>
              </a:rPr>
              <a:t>REWARD-ENGINEERING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CF4"/>
                </a:solidFill>
                <a:latin typeface="Segoe UI"/>
              </a:rPr>
              <a:t>Die Reise: drei Fehlschläge zuerst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69164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3A3BD"/>
                </a:solidFill>
                <a:latin typeface="Segoe UI"/>
              </a:rPr>
              <a:t>Bevor es funktionierte, sind drei plausible Ideen messbar gescheitert. Empirie schlägt Theorie.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468880"/>
            <a:ext cx="10698480" cy="1005840"/>
          </a:xfrm>
          <a:prstGeom prst="round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468880"/>
            <a:ext cx="91440" cy="100584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7ECF4"/>
                </a:solidFill>
                <a:latin typeface="Segoe UI"/>
              </a:rPr>
              <a:t>Quadratische Pop-Strafe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2608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3BD"/>
                </a:solidFill>
                <a:latin typeface="Consolas"/>
              </a:rPr>
              <a:t>-0.1 · (pop-30)²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743200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87171"/>
                </a:solidFill>
                <a:latin typeface="Segoe UI"/>
              </a:rPr>
              <a:t>Ø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724912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3A3BD"/>
                </a:solidFill>
                <a:latin typeface="Segoe UI"/>
              </a:rPr>
              <a:t>Suicide-Trap: früh sterben minimiert die Strafe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611880"/>
            <a:ext cx="10698480" cy="1005840"/>
          </a:xfrm>
          <a:prstGeom prst="round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611880"/>
            <a:ext cx="91440" cy="100584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7033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7ECF4"/>
                </a:solidFill>
                <a:latin typeface="Segoe UI"/>
              </a:rPr>
              <a:t>Centering / Min-Margin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06908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3BD"/>
                </a:solidFill>
                <a:latin typeface="Consolas"/>
              </a:rPr>
              <a:t>Abstand-zur-Mitte belohnen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886200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87171"/>
                </a:solidFill>
                <a:latin typeface="Segoe UI"/>
              </a:rPr>
              <a:t>Ø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867912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3A3BD"/>
                </a:solidFill>
                <a:latin typeface="Segoe UI"/>
              </a:rPr>
              <a:t>Überpopulations-Plateau, kein Endgame-Signal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754880"/>
            <a:ext cx="10698480" cy="1005840"/>
          </a:xfrm>
          <a:prstGeom prst="round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4754880"/>
            <a:ext cx="91440" cy="1005840"/>
          </a:xfrm>
          <a:prstGeom prst="rect">
            <a:avLst/>
          </a:prstGeom>
          <a:solidFill>
            <a:srgbClr val="F5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8463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7ECF4"/>
                </a:solidFill>
                <a:latin typeface="Segoe UI"/>
              </a:rPr>
              <a:t>Spread ohne Ceiling-Guard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21208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3BD"/>
                </a:solidFill>
                <a:latin typeface="Consolas"/>
              </a:rPr>
              <a:t>nur Sektoren zusammenhalten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029200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5B74D"/>
                </a:solidFill>
                <a:latin typeface="Segoe UI"/>
              </a:rPr>
              <a:t>Ø 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5010912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3A3BD"/>
                </a:solidFill>
                <a:latin typeface="Segoe UI"/>
              </a:rPr>
              <a:t>kippt an der oberen Wand (QoL 29→30)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9436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5B74D"/>
                </a:solidFill>
                <a:latin typeface="Segoe UI"/>
              </a:rPr>
              <a:t>Lehre: Eine hart bestrafende Strafe kann ein perverses Ziel erzeugen (der Agent stirbt absichtlich). Das musste raus.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3BD"/>
                </a:solidFill>
                <a:latin typeface="Segoe UI"/>
              </a:rPr>
              <a:t>Oekolopoly Evo 12  —  RL in gekoppelten Systemen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373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3BD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Segoe UI"/>
              </a:rPr>
              <a:t>DER DURCHBRUCH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CF4"/>
                </a:solidFill>
                <a:latin typeface="Segoe UI"/>
              </a:rPr>
              <a:t>Der Gewinner: Spread + Ceiling-Guard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69164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3A3BD"/>
                </a:solidFill>
                <a:latin typeface="Segoe UI"/>
              </a:rPr>
              <a:t>Zwei Signale statt Bestrafung: Sektoren zur Mitte ziehen UND gezielt nur die obere Wand schützen — den einzigen Killer des Ø21-Laufs.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468880"/>
            <a:ext cx="6400800" cy="2286000"/>
          </a:xfrm>
          <a:prstGeom prst="roundRect">
            <a:avLst/>
          </a:prstGeom>
          <a:solidFill>
            <a:srgbClr val="101B30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70048"/>
            <a:ext cx="5943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4D399"/>
                </a:solidFill>
                <a:latin typeface="Consolas"/>
              </a:rPr>
              <a:t>v = normalize(V[:8], Vmin, Vmax)            # 0..1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4D399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4D399"/>
                </a:solidFill>
                <a:latin typeface="Consolas"/>
              </a:rPr>
              <a:t>reward += 1.0                               # Überleben/Step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4D399"/>
                </a:solidFill>
                <a:latin typeface="Consolas"/>
              </a:rPr>
              <a:t>reward += 0.05 * balance                    # Balance-Nudge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4D399"/>
                </a:solidFill>
                <a:latin typeface="Consolas"/>
              </a:rPr>
              <a:t>reward += 3.0 * (1 - (v.max()-v.min()))     # Spread → Mitte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4D399"/>
                </a:solidFill>
                <a:latin typeface="Consolas"/>
              </a:rPr>
              <a:t>reward -= 8.0 * maximum(0, v-0.80).sum()    # Ceiling-Guard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4D399"/>
                </a:solidFill>
                <a:latin typeface="Consolas"/>
              </a:rPr>
              <a:t>reward += 50 if Runde&gt;=30 else -50          # Terminal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468880"/>
            <a:ext cx="4069080" cy="2286000"/>
          </a:xfrm>
          <a:prstGeom prst="round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651760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Segoe UI"/>
              </a:rPr>
              <a:t>Warum es wirkt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54680"/>
            <a:ext cx="3566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E7ECF4"/>
                </a:solidFill>
                <a:latin typeface="Segoe UI"/>
              </a:rPr>
              <a:t>•  Guard (-8) stärker als Spread (+3): Endgame zuerst absichern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E7ECF4"/>
                </a:solidFill>
                <a:latin typeface="Segoe UI"/>
              </a:rPr>
              <a:t>•  Schwelle 0.80 greift nur im obersten 20 %-Band → R1–20 frei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E7ECF4"/>
                </a:solidFill>
                <a:latin typeface="Segoe UI"/>
              </a:rPr>
              <a:t>•  Kein Suicide-Trap: länger leben = mehr Reward</a:t>
            </a:r>
          </a:p>
        </p:txBody>
      </p:sp>
      <p:pic>
        <p:nvPicPr>
          <p:cNvPr id="11" name="Picture 10" descr="G1_reward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892040"/>
            <a:ext cx="10698480" cy="86000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3BD"/>
                </a:solidFill>
                <a:latin typeface="Segoe UI"/>
              </a:rPr>
              <a:t>Oekolopoly Evo 12  —  RL in gekoppelten Systemen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373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3BD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Segoe UI"/>
              </a:rPr>
              <a:t>DER PHASENÜBERGANG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CF4"/>
                </a:solidFill>
                <a:latin typeface="Segoe UI"/>
              </a:rPr>
              <a:t>Das Nadelöhr bei Runde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64592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3A3BD"/>
                </a:solidFill>
                <a:latin typeface="Segoe UI"/>
              </a:rPr>
              <a:t>Lange passiert scheinbar nichts — dann kippt es. Bis ~750k Steps stagniert der Agent bei Runde 14, danach bricht er durch auf volle 30 Runden.</a:t>
            </a:r>
          </a:p>
        </p:txBody>
      </p:sp>
      <p:pic>
        <p:nvPicPr>
          <p:cNvPr id="6" name="Picture 5" descr="G5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331720"/>
            <a:ext cx="9326880" cy="74974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6968" y="59893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3A3BD"/>
                </a:solidFill>
                <a:latin typeface="Segoe UI"/>
              </a:rPr>
              <a:t>Plateau bei R14 bis ~750k Steps · Durchbruch 14→30 zwischen 750k und 1M Steps.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3BD"/>
                </a:solidFill>
                <a:latin typeface="Segoe UI"/>
              </a:rPr>
              <a:t>Oekolopoly Evo 12  —  RL in gekoppelten Systemen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373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3BD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Segoe UI"/>
              </a:rPr>
              <a:t>DAS ERGEBNIS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CF4"/>
                </a:solidFill>
                <a:latin typeface="Segoe UI"/>
              </a:rPr>
              <a:t>Ø 30 / 100 % — beide Metriken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3017520" cy="105156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34D399"/>
                </a:solidFill>
                <a:latin typeface="Segoe UI"/>
              </a:rPr>
              <a:t>Ø 30.00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32887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3A3BD"/>
                </a:solidFill>
                <a:latin typeface="Segoe UI"/>
              </a:rPr>
              <a:t>Runden (10 Seeds)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081528"/>
            <a:ext cx="3017520" cy="105156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72968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38BDF8"/>
                </a:solidFill>
                <a:latin typeface="Segoe UI"/>
              </a:rPr>
              <a:t>100 %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3989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3A3BD"/>
                </a:solidFill>
                <a:latin typeface="Segoe UI"/>
              </a:rPr>
              <a:t>Win-Rate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288536"/>
            <a:ext cx="3017520" cy="105156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F5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379976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5B74D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4690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3A3BD"/>
                </a:solidFill>
                <a:latin typeface="Segoe UI"/>
              </a:rPr>
              <a:t>Kollapse / 10 Seeds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874519"/>
            <a:ext cx="7406640" cy="3931920"/>
          </a:xfrm>
          <a:prstGeom prst="round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011680"/>
            <a:ext cx="6949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Segoe UI"/>
              </a:rPr>
              <a:t>Vergleich gegen dokumentierte Baselines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54203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3A3BD"/>
                </a:solidFill>
                <a:latin typeface="Segoe UI"/>
              </a:rPr>
              <a:t>Methode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54203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93A3BD"/>
                </a:solidFill>
                <a:latin typeface="Segoe UI"/>
              </a:rPr>
              <a:t>Runden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2542032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93A3BD"/>
                </a:solidFill>
                <a:latin typeface="Segoe UI"/>
              </a:rPr>
              <a:t>Win-Rate (R30)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2971800"/>
            <a:ext cx="73152" cy="50292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29260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7ECF4"/>
                </a:solidFill>
                <a:latin typeface="Segoe UI"/>
              </a:rPr>
              <a:t>Paper Vanilla 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9260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87171"/>
                </a:solidFill>
                <a:latin typeface="Segoe UI"/>
              </a:rPr>
              <a:t>Ø 3.28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292608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3A3BD"/>
                </a:solidFill>
                <a:latin typeface="Segoe UI"/>
              </a:rPr>
              <a:t>0 %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3648456"/>
            <a:ext cx="73152" cy="502920"/>
          </a:xfrm>
          <a:prstGeom prst="rect">
            <a:avLst/>
          </a:prstGeom>
          <a:solidFill>
            <a:srgbClr val="F5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602736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7ECF4"/>
                </a:solidFill>
                <a:latin typeface="Segoe UI"/>
              </a:rPr>
              <a:t>Sovereign MCTS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602736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B74D"/>
                </a:solidFill>
                <a:latin typeface="Segoe UI"/>
              </a:rPr>
              <a:t>Ø 7.08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3602736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3A3BD"/>
                </a:solidFill>
                <a:latin typeface="Segoe UI"/>
              </a:rPr>
              <a:t>0 %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80" y="4325112"/>
            <a:ext cx="73152" cy="5029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279392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7ECF4"/>
                </a:solidFill>
                <a:latin typeface="Segoe UI"/>
              </a:rPr>
              <a:t>Heuristik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2793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8BDF8"/>
                </a:solidFill>
                <a:latin typeface="Segoe UI"/>
              </a:rPr>
              <a:t>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4279392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3A3BD"/>
                </a:solidFill>
                <a:latin typeface="Segoe UI"/>
              </a:rPr>
              <a:t>0 %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5001768"/>
            <a:ext cx="73152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60" y="4956048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7ECF4"/>
                </a:solidFill>
                <a:latin typeface="Segoe UI"/>
              </a:rPr>
              <a:t>Evo 12 (MaskablePPO)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956048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Segoe UI"/>
              </a:rPr>
              <a:t>Ø 30.00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4956048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3A3BD"/>
                </a:solidFill>
                <a:latin typeface="Segoe UI"/>
              </a:rPr>
              <a:t>100 %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5532120"/>
            <a:ext cx="7223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3A3BD"/>
                </a:solidFill>
                <a:latin typeface="Segoe UI"/>
              </a:rPr>
              <a:t>Baselines: dokumentierte Bestwerte (n=25); keine erreicht je R30. Evo 12 auf Seeds 0–9 validiert: 30/30.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3BD"/>
                </a:solidFill>
                <a:latin typeface="Segoe UI"/>
              </a:rPr>
              <a:t>Oekolopoly Evo 12  —  RL in gekoppelten Systemen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373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3BD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Segoe UI"/>
              </a:rPr>
              <a:t>ROBUSTHEIT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CF4"/>
                </a:solidFill>
                <a:latin typeface="Segoe UI"/>
              </a:rPr>
              <a:t>Stabil über alle Seeds — kein Glückstreffer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64592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3A3BD"/>
                </a:solidFill>
                <a:latin typeface="Segoe UI"/>
              </a:rPr>
              <a:t>Das Verhalten ist kein Einzelfall: über alle 10 Seeds bleibt der Agent innerhalb der sicheren Korridore — gleichmäßig, nicht durch Wall-Hugging.</a:t>
            </a:r>
          </a:p>
        </p:txBody>
      </p:sp>
      <p:pic>
        <p:nvPicPr>
          <p:cNvPr id="6" name="Picture 5" descr="G4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468880"/>
            <a:ext cx="5349240" cy="4940594"/>
          </a:xfrm>
          <a:prstGeom prst="rect">
            <a:avLst/>
          </a:prstGeom>
        </p:spPr>
      </p:pic>
      <p:pic>
        <p:nvPicPr>
          <p:cNvPr id="7" name="Picture 6" descr="G2_robust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468880"/>
            <a:ext cx="5120640" cy="35625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5989320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3A3BD"/>
                </a:solidFill>
                <a:latin typeface="Segoe UI"/>
              </a:rPr>
              <a:t>Radar: alle Sektoren in sicheren Korridoren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59893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3A3BD"/>
                </a:solidFill>
                <a:latin typeface="Segoe UI"/>
              </a:rPr>
              <a:t>Robustheit: konsistent über alle Seeds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3BD"/>
                </a:solidFill>
                <a:latin typeface="Segoe UI"/>
              </a:rPr>
              <a:t>Oekolopoly Evo 12  —  RL in gekoppelten Systemen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373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3BD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Segoe UI"/>
              </a:rPr>
              <a:t>EIN BEISPIEL-LAUF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CF4"/>
                </a:solidFill>
                <a:latin typeface="Segoe UI"/>
              </a:rPr>
              <a:t>So sieht ein voller Lauf aus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64592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3A3BD"/>
                </a:solidFill>
                <a:latin typeface="Segoe UI"/>
              </a:rPr>
              <a:t>Eine einzelne Partie (Seed 42): alle acht Sektoren bleiben in sicheren Korridoren, keiner berührt die tödliche obere oder untere Wand.</a:t>
            </a:r>
          </a:p>
        </p:txBody>
      </p:sp>
      <p:pic>
        <p:nvPicPr>
          <p:cNvPr id="6" name="Picture 5" descr="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331720"/>
            <a:ext cx="9692640" cy="76284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6968" y="59893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3A3BD"/>
                </a:solidFill>
                <a:latin typeface="Segoe UI"/>
              </a:rPr>
              <a:t>Strategie: erst kontrolliert schrumpfen (Risiko senken), dann stabil bis Runde 30 wachsen.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3BD"/>
                </a:solidFill>
                <a:latin typeface="Segoe UI"/>
              </a:rPr>
              <a:t>Oekolopoly Evo 12  —  RL in gekoppelten Systemen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373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3BD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F5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B74D"/>
                </a:solidFill>
                <a:latin typeface="Segoe UI"/>
              </a:rPr>
              <a:t>EHRLICHKEIT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CF4"/>
                </a:solidFill>
                <a:latin typeface="Segoe UI"/>
              </a:rPr>
              <a:t>Hyperparameter: best-found, kein bewiesenes Optimum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10698480" cy="1463040"/>
          </a:xfrm>
          <a:prstGeom prst="roundRect">
            <a:avLst/>
          </a:prstGeom>
          <a:solidFill>
            <a:srgbClr val="101B30"/>
          </a:solidFill>
          <a:ln w="19050">
            <a:solidFill>
              <a:srgbClr val="F5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011680"/>
            <a:ext cx="100584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F5B74D"/>
                </a:solidFill>
                <a:latin typeface="Segoe UI"/>
              </a:rPr>
              <a:t>„Wir können nicht garantieren, dass dies die global-optimalen Werte sind. Wir haben mit dieser Methode (Spread + Ceiling-Guard) die besten Ergebnisse unserer getesteten Varianten gefunden — Ø 30/30 Runden bei 100 % Win-Rate.“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520440"/>
            <a:ext cx="5212080" cy="2286000"/>
          </a:xfrm>
          <a:prstGeom prst="round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703320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Segoe UI"/>
              </a:rPr>
              <a:t>Was wir wissen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206240"/>
            <a:ext cx="4663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7ECF4"/>
                </a:solidFill>
                <a:latin typeface="Segoe UI"/>
              </a:rPr>
              <a:t>•  Reward-Struktur empirisch durch Ablation validiert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7ECF4"/>
                </a:solidFill>
                <a:latin typeface="Segoe UI"/>
              </a:rPr>
              <a:t>•  Guard &gt; Spread ist bewusst (Endgame-Schutz)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7ECF4"/>
                </a:solidFill>
                <a:latin typeface="Segoe UI"/>
              </a:rPr>
              <a:t>•  Jede getestete Alternative war messbar schlechter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3520440"/>
            <a:ext cx="5212080" cy="2286000"/>
          </a:xfrm>
          <a:prstGeom prst="round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3703320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B74D"/>
                </a:solidFill>
                <a:latin typeface="Segoe UI"/>
              </a:rPr>
              <a:t>Was offen bleibt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206240"/>
            <a:ext cx="4663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7ECF4"/>
                </a:solidFill>
                <a:latin typeface="Segoe UI"/>
              </a:rPr>
              <a:t>•  Kein vollständiges HP-Grid trainiert (Rechenkosten)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7ECF4"/>
                </a:solidFill>
                <a:latin typeface="Segoe UI"/>
              </a:rPr>
              <a:t>•  Exakte Gewichte sind best-found, nicht bewiesen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7ECF4"/>
                </a:solidFill>
                <a:latin typeface="Segoe UI"/>
              </a:rPr>
              <a:t>•  Voller Beweis: 27 Kombis × ~1 Mio. Steps = 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3BD"/>
                </a:solidFill>
                <a:latin typeface="Segoe UI"/>
              </a:rPr>
              <a:t>Oekolopoly Evo 12  —  RL in gekoppelten Systemen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373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3BD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Segoe UI"/>
              </a:rPr>
              <a:t>DER VERGLEICH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CF4"/>
                </a:solidFill>
                <a:latin typeface="Segoe UI"/>
              </a:rPr>
              <a:t>Evo 12 gegen alle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64592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3A3BD"/>
                </a:solidFill>
                <a:latin typeface="Segoe UI"/>
              </a:rPr>
              <a:t>Direkt nebeneinander: das Reinforcement-Learning-Modell erreicht ein Vielfaches der besten klassischen Methode.</a:t>
            </a:r>
          </a:p>
        </p:txBody>
      </p:sp>
      <p:pic>
        <p:nvPicPr>
          <p:cNvPr id="6" name="Picture 5" descr="F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286000"/>
            <a:ext cx="9692640" cy="5061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6968" y="59893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3A3BD"/>
                </a:solidFill>
                <a:latin typeface="Segoe UI"/>
              </a:rPr>
              <a:t>Paper-MCTS Ø3.28 · Sovereign-MCTS Ø7.08 · Heuristik 24 · Evo 12 Ø30.00 (100 %).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3BD"/>
                </a:solidFill>
                <a:latin typeface="Segoe UI"/>
              </a:rPr>
              <a:t>Oekolopoly Evo 12  —  RL in gekoppelten Systemen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373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3BD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Segoe UI"/>
              </a:rPr>
              <a:t>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CF4"/>
                </a:solidFill>
                <a:latin typeface="Segoe UI"/>
              </a:rPr>
              <a:t>Was wir gelernt haben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10698480" cy="777240"/>
          </a:xfrm>
          <a:prstGeom prst="round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74519"/>
            <a:ext cx="91440" cy="7772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65960"/>
            <a:ext cx="4206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Segoe UI"/>
              </a:rPr>
              <a:t>Reward-Design schlägt Modellgröße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965960"/>
            <a:ext cx="5852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E7ECF4"/>
                </a:solidFill>
                <a:latin typeface="Segoe UI"/>
              </a:rPr>
              <a:t>Der Erfolg kam aus dem Belohnungssignal, nicht aus mehr Rechenpower.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761487"/>
            <a:ext cx="10698480" cy="777240"/>
          </a:xfrm>
          <a:prstGeom prst="round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761487"/>
            <a:ext cx="91440" cy="77724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852927"/>
            <a:ext cx="4206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7171"/>
                </a:solidFill>
                <a:latin typeface="Segoe UI"/>
              </a:rPr>
              <a:t>Harte Strafen sind gefährlich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852927"/>
            <a:ext cx="5852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E7ECF4"/>
                </a:solidFill>
                <a:latin typeface="Segoe UI"/>
              </a:rPr>
              <a:t>Eine quadratische Strafe erzeugte einen Suicide-Trap — der Agent starb absichtlich früh.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648455"/>
            <a:ext cx="10698480" cy="777240"/>
          </a:xfrm>
          <a:prstGeom prst="round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3648455"/>
            <a:ext cx="91440" cy="7772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739895"/>
            <a:ext cx="4206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Segoe UI"/>
              </a:rPr>
              <a:t>Gezielt statt pauschal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739895"/>
            <a:ext cx="5852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E7ECF4"/>
                </a:solidFill>
                <a:latin typeface="Segoe UI"/>
              </a:rPr>
              <a:t>Nur die obere Wand zu schützen (Ceiling-Guard) löste den eigentlichen Endgame-Killer.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535423"/>
            <a:ext cx="10698480" cy="777240"/>
          </a:xfrm>
          <a:prstGeom prst="round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4535423"/>
            <a:ext cx="91440" cy="777240"/>
          </a:xfrm>
          <a:prstGeom prst="rect">
            <a:avLst/>
          </a:prstGeom>
          <a:solidFill>
            <a:srgbClr val="F5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626863"/>
            <a:ext cx="4206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B74D"/>
                </a:solidFill>
                <a:latin typeface="Segoe UI"/>
              </a:rPr>
              <a:t>Auf Vorarbeit aufbauen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4626863"/>
            <a:ext cx="5852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E7ECF4"/>
                </a:solidFill>
                <a:latin typeface="Segoe UI"/>
              </a:rPr>
              <a:t>Wir starteten nicht bei null — die bestehende Environment war das Fundament.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422391"/>
            <a:ext cx="10698480" cy="777240"/>
          </a:xfrm>
          <a:prstGeom prst="round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5422391"/>
            <a:ext cx="91440" cy="7772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513831"/>
            <a:ext cx="4206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78BFA"/>
                </a:solidFill>
                <a:latin typeface="Segoe UI"/>
              </a:rPr>
              <a:t>Ehrlich bleiben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5513831"/>
            <a:ext cx="5852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E7ECF4"/>
                </a:solidFill>
                <a:latin typeface="Segoe UI"/>
              </a:rPr>
              <a:t>Best-found, kein bewiesenes Optimum — und wir benennen unsere Fehlschläge offen.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3BD"/>
                </a:solidFill>
                <a:latin typeface="Segoe UI"/>
              </a:rPr>
              <a:t>Oekolopoly Evo 12  —  RL in gekoppelten Systemen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373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3BD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5544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8BDF8"/>
                </a:solidFill>
                <a:latin typeface="Segoe UI"/>
              </a:rPr>
              <a:t>Das große Bild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606040"/>
            <a:ext cx="10698480" cy="2011680"/>
          </a:xfrm>
          <a:prstGeom prst="roundRect">
            <a:avLst/>
          </a:prstGeom>
          <a:solidFill>
            <a:srgbClr val="101B30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98755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E7ECF4"/>
                </a:solidFill>
                <a:latin typeface="Segoe UI"/>
              </a:rPr>
              <a:t>„Man musste der KI sehr viele Hilfen geben, damit sie ans Ziel kommt. Politik ist hochkomplex — und genau deshalb schwer mit KI zu automatisieren.“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4937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Segoe UI"/>
              </a:rPr>
              <a:t>Ergebnis: Ø 30.00 Runden · 100 % Win-Rate · 0 Kollapse — über 10 Seeds.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58521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93A3BD"/>
                </a:solidFill>
                <a:latin typeface="Segoe UI"/>
              </a:rPr>
              <a:t>Danke. Fragen?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